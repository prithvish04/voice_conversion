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sldIdLst>
    <p:sldId id="261" r:id="rId2"/>
    <p:sldId id="260" r:id="rId3"/>
    <p:sldId id="262" r:id="rId4"/>
    <p:sldId id="263" r:id="rId5"/>
    <p:sldId id="264" r:id="rId6"/>
    <p:sldId id="267" r:id="rId7"/>
    <p:sldId id="265" r:id="rId8"/>
    <p:sldId id="268" r:id="rId9"/>
    <p:sldId id="270"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3C90297-3293-42B4-BF9C-203042C55A49}" type="datetimeFigureOut">
              <a:rPr lang="en-US" smtClean="0"/>
              <a:t>9/16/2015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3933337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C90297-3293-42B4-BF9C-203042C55A49}" type="datetimeFigureOut">
              <a:rPr lang="en-US" smtClean="0"/>
              <a:t>9/16/2015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3323738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C90297-3293-42B4-BF9C-203042C55A49}" type="datetimeFigureOut">
              <a:rPr lang="en-US" smtClean="0"/>
              <a:t>9/16/2015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4125533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3C90297-3293-42B4-BF9C-203042C55A49}" type="datetimeFigureOut">
              <a:rPr lang="en-US" smtClean="0"/>
              <a:t>9/16/2015</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1206386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3C90297-3293-42B4-BF9C-203042C55A49}" type="datetimeFigureOut">
              <a:rPr lang="en-US" smtClean="0"/>
              <a:t>9/16/2015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1498710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3C90297-3293-42B4-BF9C-203042C55A49}" type="datetimeFigureOut">
              <a:rPr lang="en-US" smtClean="0"/>
              <a:t>9/16/2015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2820256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C90297-3293-42B4-BF9C-203042C55A49}" type="datetimeFigureOut">
              <a:rPr lang="en-US" smtClean="0"/>
              <a:t>9/16/2015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338737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C90297-3293-42B4-BF9C-203042C55A49}" type="datetimeFigureOut">
              <a:rPr lang="en-US" smtClean="0"/>
              <a:t>9/16/2015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4191894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C90297-3293-42B4-BF9C-203042C55A49}" type="datetimeFigureOut">
              <a:rPr lang="en-US" smtClean="0"/>
              <a:t>9/16/2015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2063014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C90297-3293-42B4-BF9C-203042C55A49}" type="datetimeFigureOut">
              <a:rPr lang="en-US" smtClean="0"/>
              <a:t>9/16/2015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225808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C90297-3293-42B4-BF9C-203042C55A49}" type="datetimeFigureOut">
              <a:rPr lang="en-US" smtClean="0"/>
              <a:t>9/16/2015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3F96D35-7A50-477C-8195-AFB5807129D0}"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93569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3C90297-3293-42B4-BF9C-203042C55A49}" type="datetimeFigureOut">
              <a:rPr lang="en-US" smtClean="0"/>
              <a:t>9/16/2015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7306048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3C90297-3293-42B4-BF9C-203042C55A49}" type="datetimeFigureOut">
              <a:rPr lang="en-US" smtClean="0"/>
              <a:t>9/16/2015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3F96D35-7A50-477C-8195-AFB5807129D0}"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57775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3C90297-3293-42B4-BF9C-203042C55A49}" type="datetimeFigureOut">
              <a:rPr lang="en-US" smtClean="0"/>
              <a:t>9/16/2015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640162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C90297-3293-42B4-BF9C-203042C55A49}" type="datetimeFigureOut">
              <a:rPr lang="en-US" smtClean="0"/>
              <a:t>9/16/2015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30103341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C90297-3293-42B4-BF9C-203042C55A49}" type="datetimeFigureOut">
              <a:rPr lang="en-US" smtClean="0"/>
              <a:t>9/16/2015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3F96D35-7A50-477C-8195-AFB5807129D0}" type="slidenum">
              <a:rPr lang="en-US" smtClean="0"/>
              <a:t>‹#›</a:t>
            </a:fld>
            <a:endParaRPr lang="en-US"/>
          </a:p>
        </p:txBody>
      </p:sp>
    </p:spTree>
    <p:extLst>
      <p:ext uri="{BB962C8B-B14F-4D97-AF65-F5344CB8AC3E}">
        <p14:creationId xmlns:p14="http://schemas.microsoft.com/office/powerpoint/2010/main" val="1089766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3C90297-3293-42B4-BF9C-203042C55A49}" type="datetimeFigureOut">
              <a:rPr lang="en-US" smtClean="0"/>
              <a:t>9/16/2015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3F96D35-7A50-477C-8195-AFB5807129D0}" type="slidenum">
              <a:rPr lang="en-US" smtClean="0"/>
              <a:t>‹#›</a:t>
            </a:fld>
            <a:endParaRPr lang="en-US"/>
          </a:p>
        </p:txBody>
      </p:sp>
    </p:spTree>
    <p:extLst>
      <p:ext uri="{BB962C8B-B14F-4D97-AF65-F5344CB8AC3E}">
        <p14:creationId xmlns:p14="http://schemas.microsoft.com/office/powerpoint/2010/main" val="1605176571"/>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110350" y="1455760"/>
            <a:ext cx="7661448" cy="1320800"/>
          </a:xfrm>
          <a:prstGeom prst="rect">
            <a:avLst/>
          </a:prstGeom>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6000" b="1" dirty="0" smtClean="0">
                <a:solidFill>
                  <a:schemeClr val="accent1">
                    <a:lumMod val="75000"/>
                  </a:schemeClr>
                </a:solidFill>
                <a:latin typeface="Times New Roman" panose="02020603050405020304" pitchFamily="18" charset="0"/>
                <a:cs typeface="Times New Roman" panose="02020603050405020304" pitchFamily="18" charset="0"/>
              </a:rPr>
              <a:t>VOICE CONVERSION USING MATLAB</a:t>
            </a:r>
            <a:endParaRPr lang="en-US" sz="60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Rectangle 2"/>
          <p:cNvSpPr/>
          <p:nvPr/>
        </p:nvSpPr>
        <p:spPr>
          <a:xfrm>
            <a:off x="2306471" y="5133285"/>
            <a:ext cx="8966579" cy="1384995"/>
          </a:xfrm>
          <a:prstGeom prst="rect">
            <a:avLst/>
          </a:prstGeom>
        </p:spPr>
        <p:txBody>
          <a:bodyPr wrap="square">
            <a:spAutoFit/>
          </a:bodyPr>
          <a:lstStyle/>
          <a:p>
            <a:r>
              <a:rPr lang="en-US" sz="2400" b="1" dirty="0" smtClean="0"/>
              <a:t>AIM OF OUR PROJECT :</a:t>
            </a:r>
          </a:p>
          <a:p>
            <a:endParaRPr lang="en-US" sz="2000" dirty="0" smtClean="0"/>
          </a:p>
          <a:p>
            <a:r>
              <a:rPr lang="en-US" sz="2000" dirty="0" smtClean="0"/>
              <a:t>To produce the words of one person (source speaker) in the voice of another person (target speaker</a:t>
            </a:r>
            <a:r>
              <a:rPr lang="en-US" sz="2000" dirty="0" smtClean="0"/>
              <a:t>).</a:t>
            </a:r>
            <a:endParaRPr lang="en-US" sz="2000" dirty="0" smtClean="0"/>
          </a:p>
        </p:txBody>
      </p:sp>
    </p:spTree>
    <p:extLst>
      <p:ext uri="{BB962C8B-B14F-4D97-AF65-F5344CB8AC3E}">
        <p14:creationId xmlns:p14="http://schemas.microsoft.com/office/powerpoint/2010/main" val="42212401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1562" y="832513"/>
            <a:ext cx="7615451" cy="4955203"/>
          </a:xfrm>
          <a:prstGeom prst="rect">
            <a:avLst/>
          </a:prstGeom>
          <a:noFill/>
        </p:spPr>
        <p:txBody>
          <a:bodyPr wrap="square" rtlCol="0">
            <a:spAutoFit/>
          </a:bodyPr>
          <a:lstStyle/>
          <a:p>
            <a:r>
              <a:rPr lang="en-US" sz="2400" b="1" dirty="0" smtClean="0"/>
              <a:t>Identifiers between different speakers :</a:t>
            </a:r>
          </a:p>
          <a:p>
            <a:endParaRPr lang="en-US" sz="2400" dirty="0"/>
          </a:p>
          <a:p>
            <a:pPr marL="285750" indent="-285750">
              <a:buFont typeface="Wingdings" panose="05000000000000000000" pitchFamily="2" charset="2"/>
              <a:buChar char="§"/>
            </a:pPr>
            <a:r>
              <a:rPr lang="en-US" sz="2400" dirty="0" smtClean="0"/>
              <a:t>Vocal tract transfer function</a:t>
            </a:r>
          </a:p>
          <a:p>
            <a:pPr marL="285750" indent="-285750">
              <a:buFont typeface="Wingdings" panose="05000000000000000000" pitchFamily="2" charset="2"/>
              <a:buChar char="§"/>
            </a:pPr>
            <a:r>
              <a:rPr lang="en-US" sz="2400" dirty="0" smtClean="0"/>
              <a:t>Pitch range </a:t>
            </a:r>
          </a:p>
          <a:p>
            <a:endParaRPr lang="en-US" sz="2000" dirty="0" smtClean="0"/>
          </a:p>
          <a:p>
            <a:r>
              <a:rPr lang="en-US" sz="2000" dirty="0" smtClean="0"/>
              <a:t>Every person’s distinct vocal qualities  are mainly caused by their vocal tract, which forms a transfer function between the input excitation and the output speech.</a:t>
            </a:r>
          </a:p>
          <a:p>
            <a:r>
              <a:rPr lang="en-US" sz="2000" dirty="0" smtClean="0"/>
              <a:t>We can isolate this  transfer function using cepstral analysis.</a:t>
            </a:r>
          </a:p>
          <a:p>
            <a:endParaRPr lang="en-US" sz="2000" dirty="0"/>
          </a:p>
          <a:p>
            <a:r>
              <a:rPr lang="en-US" sz="2000" dirty="0" smtClean="0"/>
              <a:t>The second major identifier is the pitch range of the words of a speaker. We can change the pitch using available algorithms.</a:t>
            </a:r>
          </a:p>
          <a:p>
            <a:pPr marL="285750" indent="-285750">
              <a:buFont typeface="Wingdings" panose="05000000000000000000" pitchFamily="2" charset="2"/>
              <a:buChar char="§"/>
            </a:pPr>
            <a:endParaRPr lang="en-US" sz="2000" dirty="0"/>
          </a:p>
          <a:p>
            <a:endParaRPr lang="en-US" sz="2000" dirty="0"/>
          </a:p>
        </p:txBody>
      </p:sp>
    </p:spTree>
    <p:extLst>
      <p:ext uri="{BB962C8B-B14F-4D97-AF65-F5344CB8AC3E}">
        <p14:creationId xmlns:p14="http://schemas.microsoft.com/office/powerpoint/2010/main" val="39509814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79928" y="586853"/>
            <a:ext cx="8884694" cy="5909310"/>
          </a:xfrm>
          <a:prstGeom prst="rect">
            <a:avLst/>
          </a:prstGeom>
          <a:noFill/>
        </p:spPr>
        <p:txBody>
          <a:bodyPr wrap="square" rtlCol="0">
            <a:spAutoFit/>
          </a:bodyPr>
          <a:lstStyle/>
          <a:p>
            <a:r>
              <a:rPr lang="en-US" dirty="0" smtClean="0"/>
              <a:t>The output of a system is the convolution of the input sequence with the system response.</a:t>
            </a:r>
          </a:p>
          <a:p>
            <a:endParaRPr lang="en-US" dirty="0"/>
          </a:p>
          <a:p>
            <a:r>
              <a:rPr lang="en-US" dirty="0" smtClean="0"/>
              <a:t>Speech, the output signal coming out from a system  is considered as  the convolution of the input excitation and vocal tract filter characteristics.</a:t>
            </a:r>
          </a:p>
          <a:p>
            <a:endParaRPr lang="en-US" dirty="0"/>
          </a:p>
          <a:p>
            <a:pPr algn="ctr"/>
            <a:r>
              <a:rPr lang="en-US" b="1" dirty="0" smtClean="0"/>
              <a:t>S(n) = e(n) * h(n)</a:t>
            </a:r>
          </a:p>
          <a:p>
            <a:pPr algn="ctr"/>
            <a:endParaRPr lang="en-US" dirty="0"/>
          </a:p>
          <a:p>
            <a:r>
              <a:rPr lang="en-US" dirty="0" smtClean="0"/>
              <a:t>The objective of cepstral analysis is to separate the speech into its source and system components without any prior knowledge about its source or vocal components.</a:t>
            </a:r>
          </a:p>
          <a:p>
            <a:endParaRPr lang="en-US" dirty="0"/>
          </a:p>
          <a:p>
            <a:r>
              <a:rPr lang="en-US" dirty="0" smtClean="0"/>
              <a:t>In frequency domain</a:t>
            </a:r>
            <a:r>
              <a:rPr lang="en-US" b="1" dirty="0" smtClean="0"/>
              <a:t>,         S(w) = E(w) H(w)                    </a:t>
            </a:r>
            <a:r>
              <a:rPr lang="en-US" i="1" dirty="0" smtClean="0"/>
              <a:t>(using DFT)</a:t>
            </a:r>
          </a:p>
          <a:p>
            <a:endParaRPr lang="en-US" dirty="0" smtClean="0"/>
          </a:p>
          <a:p>
            <a:r>
              <a:rPr lang="en-US" dirty="0" smtClean="0"/>
              <a:t>To deconvolve the speech signal into excitation and vocal tract components in time domain, this multiplication has to be converted into a linear combination of these two components. This is done using log operation.</a:t>
            </a:r>
          </a:p>
          <a:p>
            <a:pPr algn="ctr"/>
            <a:r>
              <a:rPr lang="en-US" b="1" dirty="0" smtClean="0"/>
              <a:t>log|S(w)| = log|E(w)| + log|H(w)|</a:t>
            </a:r>
          </a:p>
          <a:p>
            <a:pPr algn="ctr"/>
            <a:endParaRPr lang="en-US" dirty="0" smtClean="0"/>
          </a:p>
          <a:p>
            <a:r>
              <a:rPr lang="en-US" dirty="0" smtClean="0"/>
              <a:t>The separation  can be done by taking IDFT of the linearly combined log spectra of excitation and vocal tract components.</a:t>
            </a:r>
          </a:p>
        </p:txBody>
      </p:sp>
    </p:spTree>
    <p:extLst>
      <p:ext uri="{BB962C8B-B14F-4D97-AF65-F5344CB8AC3E}">
        <p14:creationId xmlns:p14="http://schemas.microsoft.com/office/powerpoint/2010/main" val="21040391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19869" y="559558"/>
            <a:ext cx="7629098" cy="6278642"/>
          </a:xfrm>
          <a:prstGeom prst="rect">
            <a:avLst/>
          </a:prstGeom>
          <a:noFill/>
        </p:spPr>
        <p:txBody>
          <a:bodyPr wrap="square" rtlCol="0">
            <a:spAutoFit/>
          </a:bodyPr>
          <a:lstStyle/>
          <a:p>
            <a:r>
              <a:rPr lang="en-US" sz="2400" b="1" dirty="0" smtClean="0"/>
              <a:t>CEPSTRAL DOMAIN :</a:t>
            </a:r>
          </a:p>
          <a:p>
            <a:endParaRPr lang="en-US" dirty="0"/>
          </a:p>
          <a:p>
            <a:r>
              <a:rPr lang="en-US" dirty="0" smtClean="0"/>
              <a:t>IDFT of log spectra transforms back to quefrency domain or cepstral domain (not to time domain).</a:t>
            </a:r>
          </a:p>
          <a:p>
            <a:endParaRPr lang="en-US" dirty="0" smtClean="0"/>
          </a:p>
          <a:p>
            <a:pPr algn="ctr"/>
            <a:r>
              <a:rPr lang="en-US" b="1" dirty="0" smtClean="0"/>
              <a:t>c(n) = IDFT (log|S(w)|) = IDFT (log|E(w)|) + IDFT ( log|H(w)|)</a:t>
            </a:r>
          </a:p>
          <a:p>
            <a:pPr algn="ctr"/>
            <a:endParaRPr lang="en-US" dirty="0"/>
          </a:p>
          <a:p>
            <a:r>
              <a:rPr lang="en-US" dirty="0" smtClean="0"/>
              <a:t>In cepstral domain,</a:t>
            </a:r>
          </a:p>
          <a:p>
            <a:endParaRPr lang="en-US" dirty="0"/>
          </a:p>
          <a:p>
            <a:pPr marL="285750" indent="-285750">
              <a:buFont typeface="Arial" panose="020B0604020202020204" pitchFamily="34" charset="0"/>
              <a:buChar char="•"/>
            </a:pPr>
            <a:r>
              <a:rPr lang="en-US" dirty="0" smtClean="0"/>
              <a:t>Vocal tract components are represented by the slow varying components concentrated near the low quefrency region.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Excitation components are represented by the fast varying component at the high quefrency region.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r>
              <a:rPr lang="en-US" dirty="0" smtClean="0"/>
              <a:t>As the spectrum of any given signal is symmetric and the cepstrum is derived from the log magnitude of the linear spectrum, therefore, it is also symmetrical in cepstral domain.</a:t>
            </a:r>
          </a:p>
          <a:p>
            <a:pPr marL="285750" indent="-285750">
              <a:buFont typeface="Arial" panose="020B0604020202020204" pitchFamily="34" charset="0"/>
              <a:buChar char="•"/>
            </a:pPr>
            <a:endParaRPr lang="en-US" dirty="0" smtClean="0"/>
          </a:p>
          <a:p>
            <a:pPr algn="ctr"/>
            <a:endParaRPr lang="en-US" dirty="0"/>
          </a:p>
          <a:p>
            <a:endParaRPr lang="en-US" dirty="0"/>
          </a:p>
        </p:txBody>
      </p:sp>
    </p:spTree>
    <p:extLst>
      <p:ext uri="{BB962C8B-B14F-4D97-AF65-F5344CB8AC3E}">
        <p14:creationId xmlns:p14="http://schemas.microsoft.com/office/powerpoint/2010/main" val="26212132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97291" y="832513"/>
            <a:ext cx="9485194" cy="6832640"/>
          </a:xfrm>
          <a:prstGeom prst="rect">
            <a:avLst/>
          </a:prstGeom>
          <a:noFill/>
        </p:spPr>
        <p:txBody>
          <a:bodyPr wrap="square" rtlCol="0">
            <a:spAutoFit/>
          </a:bodyPr>
          <a:lstStyle/>
          <a:p>
            <a:r>
              <a:rPr lang="en-US" sz="2000" dirty="0" smtClean="0"/>
              <a:t>Speech is a </a:t>
            </a:r>
            <a:r>
              <a:rPr lang="en-US" sz="2000" b="1" dirty="0" smtClean="0"/>
              <a:t>non- stationary</a:t>
            </a:r>
            <a:r>
              <a:rPr lang="en-US" sz="2000" dirty="0" smtClean="0"/>
              <a:t> signal i.e. the frequency components change with time.</a:t>
            </a:r>
          </a:p>
          <a:p>
            <a:endParaRPr lang="en-US" sz="2000" dirty="0"/>
          </a:p>
          <a:p>
            <a:r>
              <a:rPr lang="en-US" sz="2000" dirty="0" smtClean="0"/>
              <a:t>To be more specific, a particular set of frequency component is present in one interval and another set of frequency components in some other interval and so on.</a:t>
            </a:r>
          </a:p>
          <a:p>
            <a:endParaRPr lang="en-US" sz="2000" dirty="0"/>
          </a:p>
          <a:p>
            <a:r>
              <a:rPr lang="en-US" sz="2000" dirty="0" smtClean="0"/>
              <a:t>To take care of time varying spectral information, the short term processing approach is employed. In this, speech is processed in blocks of 10-30 ms with a shift of 10 ms.  In this short frame, it remains time invariant. For this purpose, we multiply it with a window.</a:t>
            </a:r>
          </a:p>
          <a:p>
            <a:endParaRPr lang="en-US" sz="2000" dirty="0" smtClean="0"/>
          </a:p>
          <a:p>
            <a:r>
              <a:rPr lang="en-US" sz="2000" dirty="0" smtClean="0"/>
              <a:t>Window- method : Long signal (of speech or ideal impulse response) is multiplied with a window function of finite length, giving finite length weighted version of original signal.</a:t>
            </a:r>
          </a:p>
          <a:p>
            <a:endParaRPr lang="en-US" sz="2000" dirty="0"/>
          </a:p>
          <a:p>
            <a:r>
              <a:rPr lang="en-US" sz="2000" dirty="0" smtClean="0"/>
              <a:t>In speech processing, usually some soft window like Hamming, Hanning, triangle, </a:t>
            </a:r>
            <a:r>
              <a:rPr lang="en-US" sz="2000" dirty="0" smtClean="0"/>
              <a:t>etc. </a:t>
            </a:r>
            <a:r>
              <a:rPr lang="en-US" sz="2000" dirty="0" smtClean="0"/>
              <a:t>is used to reduce the sidelobes substantially.</a:t>
            </a:r>
            <a:endParaRPr lang="en-US" sz="2000" dirty="0"/>
          </a:p>
          <a:p>
            <a:endParaRPr lang="en-US" sz="2000" dirty="0" smtClean="0"/>
          </a:p>
          <a:p>
            <a:endParaRPr lang="en-US" sz="2000" dirty="0" smtClean="0"/>
          </a:p>
          <a:p>
            <a:endParaRPr lang="en-US" sz="2000" dirty="0"/>
          </a:p>
          <a:p>
            <a:endParaRPr lang="en-US" sz="2000" dirty="0"/>
          </a:p>
        </p:txBody>
      </p:sp>
    </p:spTree>
    <p:extLst>
      <p:ext uri="{BB962C8B-B14F-4D97-AF65-F5344CB8AC3E}">
        <p14:creationId xmlns:p14="http://schemas.microsoft.com/office/powerpoint/2010/main" val="18777495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4017" y="832513"/>
            <a:ext cx="8966579" cy="4185761"/>
          </a:xfrm>
          <a:prstGeom prst="rect">
            <a:avLst/>
          </a:prstGeom>
          <a:noFill/>
        </p:spPr>
        <p:txBody>
          <a:bodyPr wrap="square" rtlCol="0">
            <a:spAutoFit/>
          </a:bodyPr>
          <a:lstStyle/>
          <a:p>
            <a:r>
              <a:rPr lang="en-US" sz="2800" b="1" dirty="0" smtClean="0"/>
              <a:t>LIFTERING :</a:t>
            </a:r>
          </a:p>
          <a:p>
            <a:endParaRPr lang="en-US" dirty="0"/>
          </a:p>
          <a:p>
            <a:r>
              <a:rPr lang="en-US" sz="2000" dirty="0" smtClean="0"/>
              <a:t>Liftering operation is similar to filtering operation in frequency domain where a desired quefrency region for analysis is selected by multiplying the whole cepstrum by a rectangular window at the desired position.</a:t>
            </a:r>
          </a:p>
          <a:p>
            <a:endParaRPr lang="en-US" sz="2000" dirty="0"/>
          </a:p>
          <a:p>
            <a:r>
              <a:rPr lang="en-US" sz="2000" dirty="0" smtClean="0"/>
              <a:t>Types : low time liftering and high time liftering</a:t>
            </a:r>
          </a:p>
          <a:p>
            <a:endParaRPr lang="en-US" sz="2000" dirty="0"/>
          </a:p>
          <a:p>
            <a:r>
              <a:rPr lang="en-US" sz="2000" dirty="0" smtClean="0"/>
              <a:t>Low time liftering operation is performed to extract the vocal tract characteristics in the quefrency domain.</a:t>
            </a:r>
          </a:p>
          <a:p>
            <a:endParaRPr lang="en-US" sz="2000" dirty="0"/>
          </a:p>
          <a:p>
            <a:r>
              <a:rPr lang="en-US" sz="2000" dirty="0" smtClean="0"/>
              <a:t>High time liftering is performed to get the excitation characteristics of the analysis speech frame.</a:t>
            </a:r>
            <a:endParaRPr lang="en-US" sz="2000" dirty="0"/>
          </a:p>
        </p:txBody>
      </p:sp>
    </p:spTree>
    <p:extLst>
      <p:ext uri="{BB962C8B-B14F-4D97-AF65-F5344CB8AC3E}">
        <p14:creationId xmlns:p14="http://schemas.microsoft.com/office/powerpoint/2010/main" val="33455620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92573" y="750626"/>
            <a:ext cx="9280477" cy="6186309"/>
          </a:xfrm>
          <a:prstGeom prst="rect">
            <a:avLst/>
          </a:prstGeom>
          <a:noFill/>
        </p:spPr>
        <p:txBody>
          <a:bodyPr wrap="square" rtlCol="0">
            <a:spAutoFit/>
          </a:bodyPr>
          <a:lstStyle/>
          <a:p>
            <a:r>
              <a:rPr lang="en-US" sz="2000" b="1" dirty="0" smtClean="0"/>
              <a:t>Cepstral analysis :</a:t>
            </a:r>
          </a:p>
          <a:p>
            <a:endParaRPr lang="en-US" dirty="0" smtClean="0"/>
          </a:p>
          <a:p>
            <a:pPr algn="ctr"/>
            <a:r>
              <a:rPr lang="en-US" dirty="0" smtClean="0"/>
              <a:t>Sound signal</a:t>
            </a:r>
          </a:p>
          <a:p>
            <a:pPr algn="ctr"/>
            <a:endParaRPr lang="en-US" dirty="0" smtClean="0"/>
          </a:p>
          <a:p>
            <a:pPr algn="ctr"/>
            <a:endParaRPr lang="en-US" dirty="0" smtClean="0"/>
          </a:p>
          <a:p>
            <a:pPr algn="ctr"/>
            <a:r>
              <a:rPr lang="en-US" dirty="0" smtClean="0"/>
              <a:t>Window</a:t>
            </a:r>
          </a:p>
          <a:p>
            <a:pPr algn="ctr"/>
            <a:endParaRPr lang="en-US" dirty="0" smtClean="0"/>
          </a:p>
          <a:p>
            <a:pPr algn="ctr"/>
            <a:endParaRPr lang="en-US" dirty="0" smtClean="0"/>
          </a:p>
          <a:p>
            <a:pPr algn="ctr"/>
            <a:r>
              <a:rPr lang="en-US" dirty="0" smtClean="0"/>
              <a:t>abs(DFT)</a:t>
            </a:r>
          </a:p>
          <a:p>
            <a:pPr algn="ctr"/>
            <a:endParaRPr lang="en-US" dirty="0" smtClean="0"/>
          </a:p>
          <a:p>
            <a:pPr algn="ctr"/>
            <a:endParaRPr lang="en-US" dirty="0" smtClean="0"/>
          </a:p>
          <a:p>
            <a:pPr algn="ctr"/>
            <a:r>
              <a:rPr lang="en-US" dirty="0" smtClean="0"/>
              <a:t>Log</a:t>
            </a:r>
          </a:p>
          <a:p>
            <a:pPr algn="ctr"/>
            <a:endParaRPr lang="en-US" dirty="0" smtClean="0"/>
          </a:p>
          <a:p>
            <a:pPr algn="ctr"/>
            <a:endParaRPr lang="en-US" dirty="0" smtClean="0"/>
          </a:p>
          <a:p>
            <a:pPr algn="ctr"/>
            <a:r>
              <a:rPr lang="en-US" dirty="0" smtClean="0"/>
              <a:t>IDFT</a:t>
            </a:r>
          </a:p>
          <a:p>
            <a:pPr algn="ctr"/>
            <a:endParaRPr lang="en-US" dirty="0" smtClean="0"/>
          </a:p>
          <a:p>
            <a:pPr algn="ctr"/>
            <a:endParaRPr lang="en-US" dirty="0" smtClean="0"/>
          </a:p>
          <a:p>
            <a:pPr algn="ctr"/>
            <a:r>
              <a:rPr lang="en-US" dirty="0" smtClean="0"/>
              <a:t>Cepstral  liftering</a:t>
            </a:r>
          </a:p>
          <a:p>
            <a:pPr algn="ctr"/>
            <a:endParaRPr lang="en-US" dirty="0" smtClean="0"/>
          </a:p>
          <a:p>
            <a:pPr algn="ctr"/>
            <a:endParaRPr lang="en-US" dirty="0" smtClean="0"/>
          </a:p>
          <a:p>
            <a:pPr algn="ctr"/>
            <a:r>
              <a:rPr lang="en-US" dirty="0" smtClean="0"/>
              <a:t>Transfer function               Excitation</a:t>
            </a:r>
          </a:p>
          <a:p>
            <a:pPr algn="ctr"/>
            <a:r>
              <a:rPr lang="en-US" dirty="0" smtClean="0"/>
              <a:t>(low quefrency)               (high quefrency)</a:t>
            </a:r>
            <a:endParaRPr lang="en-US" dirty="0"/>
          </a:p>
        </p:txBody>
      </p:sp>
      <p:cxnSp>
        <p:nvCxnSpPr>
          <p:cNvPr id="4" name="Straight Arrow Connector 3"/>
          <p:cNvCxnSpPr/>
          <p:nvPr/>
        </p:nvCxnSpPr>
        <p:spPr>
          <a:xfrm flipH="1">
            <a:off x="6619164" y="1665027"/>
            <a:ext cx="27296" cy="477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7467600" y="5791029"/>
            <a:ext cx="11373" cy="464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039133" y="5791029"/>
            <a:ext cx="20473" cy="464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660107" y="4991751"/>
            <a:ext cx="0" cy="4537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660107" y="4163619"/>
            <a:ext cx="0" cy="490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660107" y="3379757"/>
            <a:ext cx="0" cy="464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641911" y="2486168"/>
            <a:ext cx="4549" cy="448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1960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4018" y="518615"/>
            <a:ext cx="8652681" cy="4216539"/>
          </a:xfrm>
          <a:prstGeom prst="rect">
            <a:avLst/>
          </a:prstGeom>
          <a:noFill/>
        </p:spPr>
        <p:txBody>
          <a:bodyPr wrap="square" rtlCol="0">
            <a:spAutoFit/>
          </a:bodyPr>
          <a:lstStyle/>
          <a:p>
            <a:r>
              <a:rPr lang="en-US" sz="2800" b="1" dirty="0" smtClean="0"/>
              <a:t>High- time liftering for pitch estimation :</a:t>
            </a:r>
          </a:p>
          <a:p>
            <a:endParaRPr lang="en-US" sz="2000" dirty="0"/>
          </a:p>
          <a:p>
            <a:r>
              <a:rPr lang="en-US" sz="2000" dirty="0" smtClean="0"/>
              <a:t>As the cepstrum computed is symmetric, half the length of cepstrum is considered for liftering.</a:t>
            </a:r>
          </a:p>
          <a:p>
            <a:endParaRPr lang="en-US" sz="2000" dirty="0"/>
          </a:p>
          <a:p>
            <a:r>
              <a:rPr lang="en-US" sz="2000" dirty="0" smtClean="0"/>
              <a:t>Pitch can be estimated as the instant corresponding to the highest peak </a:t>
            </a:r>
            <a:r>
              <a:rPr lang="en-US" sz="2000" dirty="0" smtClean="0"/>
              <a:t>in </a:t>
            </a:r>
            <a:r>
              <a:rPr lang="en-US" sz="2000" dirty="0" smtClean="0"/>
              <a:t>the high- time </a:t>
            </a:r>
            <a:r>
              <a:rPr lang="en-US" sz="2000" dirty="0" smtClean="0"/>
              <a:t>liftered </a:t>
            </a:r>
            <a:r>
              <a:rPr lang="en-US" sz="2000" dirty="0" smtClean="0"/>
              <a:t>cepstrum.</a:t>
            </a:r>
          </a:p>
          <a:p>
            <a:endParaRPr lang="en-US" sz="2000" dirty="0"/>
          </a:p>
          <a:p>
            <a:r>
              <a:rPr lang="en-US" sz="2000" dirty="0" smtClean="0"/>
              <a:t>Pitch period is the time instant corresponding to the largest peak </a:t>
            </a:r>
            <a:r>
              <a:rPr lang="en-US" sz="2000" dirty="0" smtClean="0"/>
              <a:t>in </a:t>
            </a:r>
            <a:r>
              <a:rPr lang="en-US" sz="2000" dirty="0"/>
              <a:t>t</a:t>
            </a:r>
            <a:r>
              <a:rPr lang="en-US" sz="2000" dirty="0" smtClean="0"/>
              <a:t>he </a:t>
            </a:r>
            <a:r>
              <a:rPr lang="en-US" sz="2000" dirty="0" smtClean="0"/>
              <a:t>high- time liftered cepstrum.</a:t>
            </a:r>
          </a:p>
          <a:p>
            <a:r>
              <a:rPr lang="en-US" sz="2000" dirty="0" smtClean="0"/>
              <a:t>The reciprocal of the pitch period multiplied by the sampling frequency gives the pitch frequency of the speech frame under analysis</a:t>
            </a:r>
            <a:r>
              <a:rPr lang="en-US" dirty="0" smtClean="0"/>
              <a:t>.</a:t>
            </a:r>
            <a:endParaRPr lang="en-US" dirty="0"/>
          </a:p>
        </p:txBody>
      </p:sp>
    </p:spTree>
    <p:extLst>
      <p:ext uri="{BB962C8B-B14F-4D97-AF65-F5344CB8AC3E}">
        <p14:creationId xmlns:p14="http://schemas.microsoft.com/office/powerpoint/2010/main" val="6179733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6597" y="805218"/>
            <a:ext cx="9184943" cy="2739211"/>
          </a:xfrm>
          <a:prstGeom prst="rect">
            <a:avLst/>
          </a:prstGeom>
          <a:noFill/>
        </p:spPr>
        <p:txBody>
          <a:bodyPr wrap="square" rtlCol="0">
            <a:spAutoFit/>
          </a:bodyPr>
          <a:lstStyle/>
          <a:p>
            <a:r>
              <a:rPr lang="en-US" sz="2800" b="1" dirty="0" smtClean="0"/>
              <a:t>Pitch shift </a:t>
            </a:r>
            <a:r>
              <a:rPr lang="en-US" sz="2800" dirty="0" smtClean="0"/>
              <a:t>:</a:t>
            </a:r>
          </a:p>
          <a:p>
            <a:endParaRPr lang="en-US" dirty="0"/>
          </a:p>
          <a:p>
            <a:pPr marL="342900" indent="-342900">
              <a:buAutoNum type="arabicPeriod"/>
            </a:pPr>
            <a:r>
              <a:rPr lang="en-US" dirty="0" smtClean="0"/>
              <a:t>Use resampling to increase or decrease sound pitch by desired amount. Because resampling modifies both sound duration and pitch in the same ratio, the sound duration will become different than original in the process.</a:t>
            </a:r>
          </a:p>
          <a:p>
            <a:pPr marL="342900" indent="-342900">
              <a:buAutoNum type="arabicPeriod"/>
            </a:pPr>
            <a:endParaRPr lang="en-US" dirty="0"/>
          </a:p>
          <a:p>
            <a:pPr marL="342900" indent="-342900">
              <a:buAutoNum type="arabicPeriod"/>
            </a:pPr>
            <a:r>
              <a:rPr lang="en-US" dirty="0" smtClean="0"/>
              <a:t>The adjust the sound duration modified by bringing back to the original duration by using some algorithms. The result has the same duration as original, but now with desired pitch.</a:t>
            </a:r>
            <a:endParaRPr lang="en-US" dirty="0"/>
          </a:p>
        </p:txBody>
      </p:sp>
    </p:spTree>
    <p:extLst>
      <p:ext uri="{BB962C8B-B14F-4D97-AF65-F5344CB8AC3E}">
        <p14:creationId xmlns:p14="http://schemas.microsoft.com/office/powerpoint/2010/main" val="7473362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6155" y="1050878"/>
            <a:ext cx="8434316" cy="2123658"/>
          </a:xfrm>
          <a:prstGeom prst="rect">
            <a:avLst/>
          </a:prstGeom>
          <a:noFill/>
        </p:spPr>
        <p:txBody>
          <a:bodyPr wrap="square" rtlCol="0">
            <a:spAutoFit/>
          </a:bodyPr>
          <a:lstStyle/>
          <a:p>
            <a:r>
              <a:rPr lang="en-US" sz="3600" dirty="0" smtClean="0"/>
              <a:t>Why do we need voice conversion ?</a:t>
            </a:r>
          </a:p>
          <a:p>
            <a:endParaRPr lang="en-US" sz="2400" dirty="0"/>
          </a:p>
          <a:p>
            <a:r>
              <a:rPr lang="en-US" sz="2400" dirty="0" smtClean="0"/>
              <a:t>Voice dubbing in movies</a:t>
            </a:r>
          </a:p>
          <a:p>
            <a:r>
              <a:rPr lang="en-US" sz="2400" dirty="0" smtClean="0"/>
              <a:t>Foreign language training</a:t>
            </a:r>
          </a:p>
          <a:p>
            <a:r>
              <a:rPr lang="en-US" sz="2400" dirty="0" smtClean="0"/>
              <a:t>Cross language rap singing</a:t>
            </a:r>
            <a:endParaRPr lang="en-US" sz="2000" dirty="0"/>
          </a:p>
        </p:txBody>
      </p:sp>
    </p:spTree>
    <p:extLst>
      <p:ext uri="{BB962C8B-B14F-4D97-AF65-F5344CB8AC3E}">
        <p14:creationId xmlns:p14="http://schemas.microsoft.com/office/powerpoint/2010/main" val="2686670906"/>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504</TotalTime>
  <Words>799</Words>
  <Application>Microsoft Office PowerPoint</Application>
  <PresentationFormat>Widescreen</PresentationFormat>
  <Paragraphs>102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Century Gothic</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CONVERSION USING MATLAB</dc:title>
  <dc:creator>Shraddha Agrawal</dc:creator>
  <cp:lastModifiedBy>Shraddha Agrawal</cp:lastModifiedBy>
  <cp:revision>20</cp:revision>
  <dcterms:created xsi:type="dcterms:W3CDTF">2015-09-15T17:52:39Z</dcterms:created>
  <dcterms:modified xsi:type="dcterms:W3CDTF">2015-09-16T05:47:11Z</dcterms:modified>
</cp:coreProperties>
</file>